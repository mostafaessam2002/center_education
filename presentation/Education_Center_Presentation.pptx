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" Type="http://schemas.openxmlformats.org/officeDocument/2006/relationships/printerSettings" Target="printerSettings/printerSettings1.bin"/><Relationship Id="rId20" Type="http://schemas.openxmlformats.org/officeDocument/2006/relationships/slide" Target="slides/slide14.xml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>
              <a:defRPr sz="4400" b="1">
                <a:solidFill>
                  <a:srgbClr val="1E40AF"/>
                </a:solidFill>
              </a:defRPr>
            </a:pPr>
            <a:r>
              <a:t>نظام إدارة مركز تعليمي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>
              <a:defRPr sz="2400">
                <a:solidFill>
                  <a:srgbClr val="37474F"/>
                </a:solidFill>
              </a:defRPr>
            </a:pPr>
            <a:r>
              <a:t>Education Center Management System</a:t>
            </a:r>
          </a:p>
          <a:p>
            <a:r>
              <a:t>Comprehensive Learning Platform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1E40AF"/>
                </a:solidFill>
              </a:defRPr>
            </a:pPr>
            <a:r>
              <a:t>نظرة عامة على المشروع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2000">
                <a:solidFill>
                  <a:srgbClr val="37474F"/>
                </a:solidFill>
              </a:defRPr>
            </a:pPr>
            <a:r>
              <a:t>منصة تعليمية متكاملة تربط بين الطلاب والمعلمين</a:t>
            </a:r>
          </a:p>
          <a:p>
            <a:pPr>
              <a:defRPr sz="2000">
                <a:solidFill>
                  <a:srgbClr val="37474F"/>
                </a:solidFill>
              </a:defRPr>
            </a:pPr>
            <a:r>
              <a:t>إدارة شاملة للعملية التعليمية من التسجيل إلى التخرج</a:t>
            </a:r>
          </a:p>
          <a:p>
            <a:pPr>
              <a:defRPr sz="2000">
                <a:solidFill>
                  <a:srgbClr val="37474F"/>
                </a:solidFill>
              </a:defRPr>
            </a:pPr>
            <a:r>
              <a:t>دعم كامل للتعليم التقليدي والإلكتروني</a:t>
            </a:r>
          </a:p>
          <a:p>
            <a:pPr>
              <a:defRPr sz="2000">
                <a:solidFill>
                  <a:srgbClr val="37474F"/>
                </a:solidFill>
              </a:defRPr>
            </a:pPr>
            <a:r>
              <a:t>حلول تقنية متقدمة لإدارة المحتوى والتقييم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1E40AF"/>
                </a:solidFill>
              </a:defRPr>
            </a:pPr>
            <a:r>
              <a:t>المشكلة التي يحلها النظام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2000">
                <a:solidFill>
                  <a:srgbClr val="37474F"/>
                </a:solidFill>
              </a:defRPr>
            </a:pPr>
            <a:r>
              <a:t>صعوبة إدارة العمليات التعليمية يدوياً</a:t>
            </a:r>
          </a:p>
          <a:p>
            <a:pPr>
              <a:defRPr sz="2000">
                <a:solidFill>
                  <a:srgbClr val="37474F"/>
                </a:solidFill>
              </a:defRPr>
            </a:pPr>
            <a:r>
              <a:t>عدم وجود منصة موحدة للتواصل والمتابعة</a:t>
            </a:r>
          </a:p>
          <a:p>
            <a:pPr>
              <a:defRPr sz="2000">
                <a:solidFill>
                  <a:srgbClr val="37474F"/>
                </a:solidFill>
              </a:defRPr>
            </a:pPr>
            <a:r>
              <a:t>تحديات في تتبع التقدم الأكاديمي للطلاب</a:t>
            </a:r>
          </a:p>
          <a:p>
            <a:pPr>
              <a:defRPr sz="2000">
                <a:solidFill>
                  <a:srgbClr val="37474F"/>
                </a:solidFill>
              </a:defRPr>
            </a:pPr>
            <a:r>
              <a:t>مشاكل في إدارة المدفوعات والتسجيل</a:t>
            </a:r>
          </a:p>
          <a:p>
            <a:pPr>
              <a:defRPr sz="2000">
                <a:solidFill>
                  <a:srgbClr val="37474F"/>
                </a:solidFill>
              </a:defRPr>
            </a:pPr>
            <a:r>
              <a:t>صعوبة في تنظيم الجدول الدراسي والحضور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1E40AF"/>
                </a:solidFill>
              </a:defRPr>
            </a:pPr>
            <a:r>
              <a:t>المميزات الأساسية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Rectangle 3"/>
          <p:cNvSpPr/>
          <p:nvPr/>
        </p:nvSpPr>
        <p:spPr>
          <a:xfrm>
            <a:off x="914400" y="1371600"/>
            <a:ext cx="3200400" cy="1371600"/>
          </a:xfrm>
          <a:prstGeom prst="rect">
            <a:avLst/>
          </a:prstGeom>
          <a:solidFill>
            <a:srgbClr val="F8FAFC"/>
          </a:solidFill>
          <a:ln>
            <a:solidFill>
              <a:srgbClr val="1E40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  <a:p>
            <a:pPr algn="ctr">
              <a:defRPr sz="1400" b="1">
                <a:solidFill>
                  <a:srgbClr val="37474F"/>
                </a:solidFill>
              </a:defRPr>
            </a:pPr>
            <a:r>
              <a:t>🔐 المصادقة والصلاحيات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0" y="1371600"/>
            <a:ext cx="3200400" cy="1371600"/>
          </a:xfrm>
          <a:prstGeom prst="rect">
            <a:avLst/>
          </a:prstGeom>
          <a:solidFill>
            <a:srgbClr val="F8FAFC"/>
          </a:solidFill>
          <a:ln>
            <a:solidFill>
              <a:srgbClr val="1E40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  <a:p>
            <a:pPr algn="ctr">
              <a:defRPr sz="1400" b="1">
                <a:solidFill>
                  <a:srgbClr val="37474F"/>
                </a:solidFill>
              </a:defRPr>
            </a:pPr>
            <a:r>
              <a:t>📚 إدارة الكورسات</a:t>
            </a:r>
          </a:p>
        </p:txBody>
      </p:sp>
      <p:sp>
        <p:nvSpPr>
          <p:cNvPr id="6" name="Rectangle 5"/>
          <p:cNvSpPr/>
          <p:nvPr/>
        </p:nvSpPr>
        <p:spPr>
          <a:xfrm>
            <a:off x="914400" y="3200400"/>
            <a:ext cx="3200400" cy="1371600"/>
          </a:xfrm>
          <a:prstGeom prst="rect">
            <a:avLst/>
          </a:prstGeom>
          <a:solidFill>
            <a:srgbClr val="F8FAFC"/>
          </a:solidFill>
          <a:ln>
            <a:solidFill>
              <a:srgbClr val="1E40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  <a:p>
            <a:pPr algn="ctr">
              <a:defRPr sz="1400" b="1">
                <a:solidFill>
                  <a:srgbClr val="37474F"/>
                </a:solidFill>
              </a:defRPr>
            </a:pPr>
            <a:r>
              <a:t>📝 نظام الالتحاق والدفع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0" y="3200400"/>
            <a:ext cx="3200400" cy="1371600"/>
          </a:xfrm>
          <a:prstGeom prst="rect">
            <a:avLst/>
          </a:prstGeom>
          <a:solidFill>
            <a:srgbClr val="F8FAFC"/>
          </a:solidFill>
          <a:ln>
            <a:solidFill>
              <a:srgbClr val="1E40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  <a:p>
            <a:pPr algn="ctr">
              <a:defRPr sz="1400" b="1">
                <a:solidFill>
                  <a:srgbClr val="37474F"/>
                </a:solidFill>
              </a:defRPr>
            </a:pPr>
            <a:r>
              <a:t>📺 المحتوى التعليمي</a:t>
            </a:r>
          </a:p>
        </p:txBody>
      </p:sp>
      <p:sp>
        <p:nvSpPr>
          <p:cNvPr id="8" name="Rectangle 7"/>
          <p:cNvSpPr/>
          <p:nvPr/>
        </p:nvSpPr>
        <p:spPr>
          <a:xfrm>
            <a:off x="914400" y="5029200"/>
            <a:ext cx="3200400" cy="1371600"/>
          </a:xfrm>
          <a:prstGeom prst="rect">
            <a:avLst/>
          </a:prstGeom>
          <a:solidFill>
            <a:srgbClr val="F8FAFC"/>
          </a:solidFill>
          <a:ln>
            <a:solidFill>
              <a:srgbClr val="1E40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  <a:p>
            <a:pPr algn="ctr">
              <a:defRPr sz="1400" b="1">
                <a:solidFill>
                  <a:srgbClr val="37474F"/>
                </a:solidFill>
              </a:defRPr>
            </a:pPr>
            <a:r>
              <a:t>📊 تتبع التقدم</a:t>
            </a:r>
          </a:p>
        </p:txBody>
      </p:sp>
      <p:sp>
        <p:nvSpPr>
          <p:cNvPr id="9" name="Rectangle 8"/>
          <p:cNvSpPr/>
          <p:nvPr/>
        </p:nvSpPr>
        <p:spPr>
          <a:xfrm>
            <a:off x="5029200" y="5029200"/>
            <a:ext cx="3200400" cy="1371600"/>
          </a:xfrm>
          <a:prstGeom prst="rect">
            <a:avLst/>
          </a:prstGeom>
          <a:solidFill>
            <a:srgbClr val="F8FAFC"/>
          </a:solidFill>
          <a:ln>
            <a:solidFill>
              <a:srgbClr val="1E40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  <a:p>
            <a:pPr algn="ctr">
              <a:defRPr sz="1400" b="1">
                <a:solidFill>
                  <a:srgbClr val="37474F"/>
                </a:solidFill>
              </a:defRPr>
            </a:pPr>
            <a:r>
              <a:t>📅 إدارة الجدول الدراسي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1E40AF"/>
                </a:solidFill>
              </a:defRPr>
            </a:pPr>
            <a:r>
              <a:t>أدوار المستخدمين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914400" y="1371600"/>
            <a:ext cx="4114800" cy="457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2400" b="1">
                <a:solidFill>
                  <a:srgbClr val="063B5E"/>
                </a:solidFill>
              </a:defRPr>
            </a:pPr>
            <a:r>
              <a:t>الطالب (Student)</a:t>
            </a:r>
          </a:p>
          <a:p>
            <a:pPr>
              <a:defRPr sz="1800">
                <a:solidFill>
                  <a:srgbClr val="37474F"/>
                </a:solidFill>
              </a:defRPr>
            </a:pPr>
            <a:r>
              <a:t>تصفح والبحث عن الكورسات</a:t>
            </a:r>
          </a:p>
          <a:p>
            <a:pPr>
              <a:defRPr sz="1800">
                <a:solidFill>
                  <a:srgbClr val="37474F"/>
                </a:solidFill>
              </a:defRPr>
            </a:pPr>
            <a:r>
              <a:t>طلب الالتحاق في الكورسات</a:t>
            </a:r>
          </a:p>
          <a:p>
            <a:pPr>
              <a:defRPr sz="1800">
                <a:solidFill>
                  <a:srgbClr val="37474F"/>
                </a:solidFill>
              </a:defRPr>
            </a:pPr>
            <a:r>
              <a:t>متابعة الدروس والمحتوى</a:t>
            </a:r>
          </a:p>
          <a:p>
            <a:pPr>
              <a:defRPr sz="1800">
                <a:solidFill>
                  <a:srgbClr val="37474F"/>
                </a:solidFill>
              </a:defRPr>
            </a:pPr>
            <a:r>
              <a:t>إجراء الاختبارات والواجبات</a:t>
            </a:r>
          </a:p>
          <a:p>
            <a:pPr>
              <a:defRPr sz="1800">
                <a:solidFill>
                  <a:srgbClr val="37474F"/>
                </a:solidFill>
              </a:defRPr>
            </a:pPr>
            <a:r>
              <a:t>تتبع التقدم الشخصي</a:t>
            </a:r>
          </a:p>
          <a:p>
            <a:pPr>
              <a:defRPr sz="1800">
                <a:solidFill>
                  <a:srgbClr val="37474F"/>
                </a:solidFill>
              </a:defRPr>
            </a:pPr>
            <a:r>
              <a:t>عرض الجدول الدراسي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0" y="1371600"/>
            <a:ext cx="4114800" cy="457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2400" b="1">
                <a:solidFill>
                  <a:srgbClr val="063B5E"/>
                </a:solidFill>
              </a:defRPr>
            </a:pPr>
            <a:r>
              <a:t>المعلم (Teacher)</a:t>
            </a:r>
          </a:p>
          <a:p>
            <a:pPr>
              <a:defRPr sz="1800">
                <a:solidFill>
                  <a:srgbClr val="37474F"/>
                </a:solidFill>
              </a:defRPr>
            </a:pPr>
            <a:r>
              <a:t>إنشاء وإدارة الكورسات</a:t>
            </a:r>
          </a:p>
          <a:p>
            <a:pPr>
              <a:defRPr sz="1800">
                <a:solidFill>
                  <a:srgbClr val="37474F"/>
                </a:solidFill>
              </a:defRPr>
            </a:pPr>
            <a:r>
              <a:t>إضافة المحتوى التعليمي</a:t>
            </a:r>
          </a:p>
          <a:p>
            <a:pPr>
              <a:defRPr sz="1800">
                <a:solidFill>
                  <a:srgbClr val="37474F"/>
                </a:solidFill>
              </a:defRPr>
            </a:pPr>
            <a:r>
              <a:t>قبول/رفض طلبات الطلاب</a:t>
            </a:r>
          </a:p>
          <a:p>
            <a:pPr>
              <a:defRPr sz="1800">
                <a:solidFill>
                  <a:srgbClr val="37474F"/>
                </a:solidFill>
              </a:defRPr>
            </a:pPr>
            <a:r>
              <a:t>إنشاء الاختبارات والواجبات</a:t>
            </a:r>
          </a:p>
          <a:p>
            <a:pPr>
              <a:defRPr sz="1800">
                <a:solidFill>
                  <a:srgbClr val="37474F"/>
                </a:solidFill>
              </a:defRPr>
            </a:pPr>
            <a:r>
              <a:t>تصحيح وتقييم الأعمال</a:t>
            </a:r>
          </a:p>
          <a:p>
            <a:pPr>
              <a:defRPr sz="1800">
                <a:solidFill>
                  <a:srgbClr val="37474F"/>
                </a:solidFill>
              </a:defRPr>
            </a:pPr>
            <a:r>
              <a:t>متابعة أداء الطلاب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1E40AF"/>
                </a:solidFill>
              </a:defRPr>
            </a:pPr>
            <a:r>
              <a:t>نظام الدفع الإلكتروني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2000">
                <a:solidFill>
                  <a:srgbClr val="37474F"/>
                </a:solidFill>
              </a:defRPr>
            </a:pPr>
            <a:r>
              <a:t>🔄 دورة حياة الدفع:</a:t>
            </a:r>
          </a:p>
          <a:p>
            <a:pPr>
              <a:defRPr sz="2000">
                <a:solidFill>
                  <a:srgbClr val="37474F"/>
                </a:solidFill>
              </a:defRPr>
            </a:pPr>
            <a:r>
              <a:t>  1. طلب الالتحاق → 2. المراجعة → 3. الدفع → 4. التفعيل</a:t>
            </a:r>
          </a:p>
          <a:p>
            <a:pPr>
              <a:defRPr sz="2000">
                <a:solidFill>
                  <a:srgbClr val="37474F"/>
                </a:solidFill>
              </a:defRPr>
            </a:pPr>
            <a:r>
              <a:t>💳 تكامل مع بوابة Paymob</a:t>
            </a:r>
          </a:p>
          <a:p>
            <a:pPr>
              <a:defRPr sz="2000">
                <a:solidFill>
                  <a:srgbClr val="37474F"/>
                </a:solidFill>
              </a:defRPr>
            </a:pPr>
            <a:r>
              <a:t>💳 دعم البطاقات البنكية (Visa/Mastercard)</a:t>
            </a:r>
          </a:p>
          <a:p>
            <a:pPr>
              <a:defRPr sz="2000">
                <a:solidFill>
                  <a:srgbClr val="37474F"/>
                </a:solidFill>
              </a:defRPr>
            </a:pPr>
            <a:r>
              <a:t>📱 دعم المحافظ الإلكترونية</a:t>
            </a:r>
          </a:p>
          <a:p>
            <a:pPr>
              <a:defRPr sz="2000">
                <a:solidFill>
                  <a:srgbClr val="37474F"/>
                </a:solidFill>
              </a:defRPr>
            </a:pPr>
            <a:r>
              <a:t>⚡ معالجة فورية وتفعيل تلقائي</a:t>
            </a:r>
          </a:p>
          <a:p>
            <a:pPr>
              <a:defRPr sz="2000">
                <a:solidFill>
                  <a:srgbClr val="37474F"/>
                </a:solidFill>
              </a:defRPr>
            </a:pPr>
            <a:r>
              <a:t>📈 دعم الدفع الشهري والمرة واحدة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1E40AF"/>
                </a:solidFill>
              </a:defRPr>
            </a:pPr>
            <a:r>
              <a:t>إدارة المحتوى التعليمي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914400" y="1371600"/>
            <a:ext cx="4114800" cy="457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2400" b="1">
                <a:solidFill>
                  <a:srgbClr val="063B5E"/>
                </a:solidFill>
              </a:defRPr>
            </a:pPr>
            <a:r>
              <a:t>أنواع المحتوى</a:t>
            </a:r>
          </a:p>
          <a:p>
            <a:pPr>
              <a:defRPr sz="1800">
                <a:solidFill>
                  <a:srgbClr val="37474F"/>
                </a:solidFill>
              </a:defRPr>
            </a:pPr>
            <a:r>
              <a:t>🎬 فيديوهات تعليمية</a:t>
            </a:r>
          </a:p>
          <a:p>
            <a:pPr>
              <a:defRPr sz="1800">
                <a:solidFill>
                  <a:srgbClr val="37474F"/>
                </a:solidFill>
              </a:defRPr>
            </a:pPr>
            <a:r>
              <a:t>📄 ملفات PDF ومذكرات</a:t>
            </a:r>
          </a:p>
          <a:p>
            <a:pPr>
              <a:defRPr sz="1800">
                <a:solidFill>
                  <a:srgbClr val="37474F"/>
                </a:solidFill>
              </a:defRPr>
            </a:pPr>
            <a:r>
              <a:t>🖼️ صور توضيحية</a:t>
            </a:r>
          </a:p>
          <a:p>
            <a:pPr>
              <a:defRPr sz="1800">
                <a:solidFill>
                  <a:srgbClr val="37474F"/>
                </a:solidFill>
              </a:defRPr>
            </a:pPr>
            <a:r>
              <a:t>📝 نصوص وشروحات مكتوبة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0" y="1371600"/>
            <a:ext cx="4114800" cy="457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2400" b="1">
                <a:solidFill>
                  <a:srgbClr val="063B5E"/>
                </a:solidFill>
              </a:defRPr>
            </a:pPr>
            <a:r>
              <a:t>المميزات التقنية</a:t>
            </a:r>
          </a:p>
          <a:p>
            <a:pPr>
              <a:defRPr sz="1800">
                <a:solidFill>
                  <a:srgbClr val="37474F"/>
                </a:solidFill>
              </a:defRPr>
            </a:pPr>
            <a:r>
              <a:t>⏸️ مشغل فيديو مخصص</a:t>
            </a:r>
          </a:p>
          <a:p>
            <a:pPr>
              <a:defRPr sz="1800">
                <a:solidFill>
                  <a:srgbClr val="37474F"/>
                </a:solidFill>
              </a:defRPr>
            </a:pPr>
            <a:r>
              <a:t>💾 حفظ تلقائي للتقدم</a:t>
            </a:r>
          </a:p>
          <a:p>
            <a:pPr>
              <a:defRPr sz="1800">
                <a:solidFill>
                  <a:srgbClr val="37474F"/>
                </a:solidFill>
              </a:defRPr>
            </a:pPr>
            <a:r>
              <a:t>📊 تتبع المشاهدة الفعلية</a:t>
            </a:r>
          </a:p>
          <a:p>
            <a:pPr>
              <a:defRPr sz="1800">
                <a:solidFill>
                  <a:srgbClr val="37474F"/>
                </a:solidFill>
              </a:defRPr>
            </a:pPr>
            <a:r>
              <a:t>🔒 منع التخطي (اختياري)</a:t>
            </a:r>
          </a:p>
          <a:p>
            <a:pPr>
              <a:defRPr sz="1800">
                <a:solidFill>
                  <a:srgbClr val="37474F"/>
                </a:solidFill>
              </a:defRPr>
            </a:pPr>
            <a:r>
              <a:t>📱 دعم التصميم المتجاوب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1E40AF"/>
                </a:solidFill>
              </a:defRPr>
            </a:pPr>
            <a:r>
              <a:t>نظام التقييم والاختبارات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914400" y="1371600"/>
            <a:ext cx="4114800" cy="457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2400" b="1">
                <a:solidFill>
                  <a:srgbClr val="063B5E"/>
                </a:solidFill>
              </a:defRPr>
            </a:pPr>
            <a:r>
              <a:t>الاختبارات (Quizzes)</a:t>
            </a:r>
          </a:p>
          <a:p>
            <a:pPr>
              <a:defRPr sz="1800">
                <a:solidFill>
                  <a:srgbClr val="37474F"/>
                </a:solidFill>
              </a:defRPr>
            </a:pPr>
            <a:r>
              <a:t>📝 اختبارات قصيرة ونهائية</a:t>
            </a:r>
          </a:p>
          <a:p>
            <a:pPr>
              <a:defRPr sz="1800">
                <a:solidFill>
                  <a:srgbClr val="37474F"/>
                </a:solidFill>
              </a:defRPr>
            </a:pPr>
            <a:r>
              <a:t>⏱️ مؤقت تنازلي</a:t>
            </a:r>
          </a:p>
          <a:p>
            <a:pPr>
              <a:defRPr sz="1800">
                <a:solidFill>
                  <a:srgbClr val="37474F"/>
                </a:solidFill>
              </a:defRPr>
            </a:pPr>
            <a:r>
              <a:t>🔒 منع الغش والتخطي</a:t>
            </a:r>
          </a:p>
          <a:p>
            <a:pPr>
              <a:defRPr sz="1800">
                <a:solidFill>
                  <a:srgbClr val="37474F"/>
                </a:solidFill>
              </a:defRPr>
            </a:pPr>
            <a:r>
              <a:t>📊 تصحيح آلي فوري</a:t>
            </a:r>
          </a:p>
          <a:p>
            <a:pPr>
              <a:defRPr sz="1800">
                <a:solidFill>
                  <a:srgbClr val="37474F"/>
                </a:solidFill>
              </a:defRPr>
            </a:pPr>
            <a:r>
              <a:t>👁️ مراقبة حية للمعلم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0" y="1371600"/>
            <a:ext cx="4114800" cy="457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2400" b="1">
                <a:solidFill>
                  <a:srgbClr val="063B5E"/>
                </a:solidFill>
              </a:defRPr>
            </a:pPr>
            <a:r>
              <a:t>الواجبات (Assignments)</a:t>
            </a:r>
          </a:p>
          <a:p>
            <a:pPr>
              <a:defRPr sz="1800">
                <a:solidFill>
                  <a:srgbClr val="37474F"/>
                </a:solidFill>
              </a:defRPr>
            </a:pPr>
            <a:r>
              <a:t>📤 رفع الملفات (PDF)</a:t>
            </a:r>
          </a:p>
          <a:p>
            <a:pPr>
              <a:defRPr sz="1800">
                <a:solidFill>
                  <a:srgbClr val="37474F"/>
                </a:solidFill>
              </a:defRPr>
            </a:pPr>
            <a:r>
              <a:t>📅 مواعيد التسليم</a:t>
            </a:r>
          </a:p>
          <a:p>
            <a:pPr>
              <a:defRPr sz="1800">
                <a:solidFill>
                  <a:srgbClr val="37474F"/>
                </a:solidFill>
              </a:defRPr>
            </a:pPr>
            <a:r>
              <a:t>👨‍🏫 واجهة التصحيح للمعلم</a:t>
            </a:r>
          </a:p>
          <a:p>
            <a:pPr>
              <a:defRPr sz="1800">
                <a:solidFill>
                  <a:srgbClr val="37474F"/>
                </a:solidFill>
              </a:defRPr>
            </a:pPr>
            <a:r>
              <a:t>💬 نظام الملاحظات والتقييم</a:t>
            </a:r>
          </a:p>
          <a:p>
            <a:pPr>
              <a:defRPr sz="1800">
                <a:solidFill>
                  <a:srgbClr val="37474F"/>
                </a:solidFill>
              </a:defRPr>
            </a:pPr>
            <a:r>
              <a:t>📈 تتبع حالة التسليم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1E40AF"/>
                </a:solidFill>
              </a:defRPr>
            </a:pPr>
            <a:r>
              <a:t>المعمارية التقنية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Rectangle 3"/>
          <p:cNvSpPr/>
          <p:nvPr/>
        </p:nvSpPr>
        <p:spPr>
          <a:xfrm>
            <a:off x="1828800" y="1371600"/>
            <a:ext cx="2743200" cy="914400"/>
          </a:xfrm>
          <a:prstGeom prst="rect">
            <a:avLst/>
          </a:prstGeom>
          <a:solidFill>
            <a:srgbClr val="10B981"/>
          </a:solidFill>
          <a:ln>
            <a:solidFill>
              <a:srgbClr val="063B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  <a:p>
            <a:pPr algn="ctr">
              <a:defRPr sz="1600" b="1">
                <a:solidFill>
                  <a:srgbClr val="FFFFFF"/>
                </a:solidFill>
              </a:defRPr>
            </a:pPr>
            <a:r>
              <a:t>React Frontend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0" y="1371600"/>
            <a:ext cx="2743200" cy="914400"/>
          </a:xfrm>
          <a:prstGeom prst="rect">
            <a:avLst/>
          </a:prstGeom>
          <a:solidFill>
            <a:srgbClr val="10B981"/>
          </a:solidFill>
          <a:ln>
            <a:solidFill>
              <a:srgbClr val="063B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  <a:p>
            <a:pPr algn="ctr">
              <a:defRPr sz="1600" b="1">
                <a:solidFill>
                  <a:srgbClr val="FFFFFF"/>
                </a:solidFill>
              </a:defRPr>
            </a:pPr>
            <a:r>
              <a:t>Vite Build Tool</a:t>
            </a:r>
          </a:p>
        </p:txBody>
      </p:sp>
      <p:sp>
        <p:nvSpPr>
          <p:cNvPr id="6" name="Rectangle 5"/>
          <p:cNvSpPr/>
          <p:nvPr/>
        </p:nvSpPr>
        <p:spPr>
          <a:xfrm>
            <a:off x="1828800" y="2743200"/>
            <a:ext cx="2743200" cy="914400"/>
          </a:xfrm>
          <a:prstGeom prst="rect">
            <a:avLst/>
          </a:prstGeom>
          <a:solidFill>
            <a:srgbClr val="1E40AF"/>
          </a:solidFill>
          <a:ln>
            <a:solidFill>
              <a:srgbClr val="063B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  <a:p>
            <a:pPr algn="ctr">
              <a:defRPr sz="1600" b="1">
                <a:solidFill>
                  <a:srgbClr val="FFFFFF"/>
                </a:solidFill>
              </a:defRPr>
            </a:pPr>
            <a:r>
              <a:t>NestJS Backend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0" y="2743200"/>
            <a:ext cx="2743200" cy="914400"/>
          </a:xfrm>
          <a:prstGeom prst="rect">
            <a:avLst/>
          </a:prstGeom>
          <a:solidFill>
            <a:srgbClr val="1E40AF"/>
          </a:solidFill>
          <a:ln>
            <a:solidFill>
              <a:srgbClr val="063B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  <a:p>
            <a:pPr algn="ctr">
              <a:defRPr sz="1600" b="1">
                <a:solidFill>
                  <a:srgbClr val="FFFFFF"/>
                </a:solidFill>
              </a:defRPr>
            </a:pPr>
            <a:r>
              <a:t>MySQL Database</a:t>
            </a:r>
          </a:p>
        </p:txBody>
      </p:sp>
      <p:sp>
        <p:nvSpPr>
          <p:cNvPr id="8" name="Rectangle 7"/>
          <p:cNvSpPr/>
          <p:nvPr/>
        </p:nvSpPr>
        <p:spPr>
          <a:xfrm>
            <a:off x="1828800" y="4114800"/>
            <a:ext cx="2743200" cy="914400"/>
          </a:xfrm>
          <a:prstGeom prst="rect">
            <a:avLst/>
          </a:prstGeom>
          <a:solidFill>
            <a:srgbClr val="1E40AF"/>
          </a:solidFill>
          <a:ln>
            <a:solidFill>
              <a:srgbClr val="063B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  <a:p>
            <a:pPr algn="ctr">
              <a:defRPr sz="1600" b="1">
                <a:solidFill>
                  <a:srgbClr val="FFFFFF"/>
                </a:solidFill>
              </a:defRPr>
            </a:pPr>
            <a:r>
              <a:t>Prisma ORM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400" y="4114800"/>
            <a:ext cx="2743200" cy="914400"/>
          </a:xfrm>
          <a:prstGeom prst="rect">
            <a:avLst/>
          </a:prstGeom>
          <a:solidFill>
            <a:srgbClr val="1E40AF"/>
          </a:solidFill>
          <a:ln>
            <a:solidFill>
              <a:srgbClr val="063B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  <a:p>
            <a:pPr algn="ctr">
              <a:defRPr sz="1600" b="1">
                <a:solidFill>
                  <a:srgbClr val="FFFFFF"/>
                </a:solidFill>
              </a:defRPr>
            </a:pPr>
            <a:r>
              <a:t>Docker Containers</a:t>
            </a:r>
          </a:p>
        </p:txBody>
      </p:sp>
      <p:sp>
        <p:nvSpPr>
          <p:cNvPr id="10" name="Rectangle 9"/>
          <p:cNvSpPr/>
          <p:nvPr/>
        </p:nvSpPr>
        <p:spPr>
          <a:xfrm>
            <a:off x="1828800" y="5486400"/>
            <a:ext cx="2743200" cy="914400"/>
          </a:xfrm>
          <a:prstGeom prst="rect">
            <a:avLst/>
          </a:prstGeom>
          <a:solidFill>
            <a:srgbClr val="1E40AF"/>
          </a:solidFill>
          <a:ln>
            <a:solidFill>
              <a:srgbClr val="063B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  <a:p>
            <a:pPr algn="ctr">
              <a:defRPr sz="1600" b="1">
                <a:solidFill>
                  <a:srgbClr val="FFFFFF"/>
                </a:solidFill>
              </a:defRPr>
            </a:pPr>
            <a:r>
              <a:t>Nginx Web Server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486400" y="5486400"/>
            <a:ext cx="2743200" cy="914400"/>
          </a:xfrm>
          <a:prstGeom prst="rect">
            <a:avLst/>
          </a:prstGeom>
          <a:solidFill>
            <a:srgbClr val="1E40AF"/>
          </a:solidFill>
          <a:ln>
            <a:solidFill>
              <a:srgbClr val="063B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  <a:p>
            <a:pPr algn="ctr">
              <a:defRPr sz="1600" b="1">
                <a:solidFill>
                  <a:srgbClr val="FFFFFF"/>
                </a:solidFill>
              </a:defRPr>
            </a:pPr>
            <a:r>
              <a:t>Paymob Payment Gateway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1E40AF"/>
                </a:solidFill>
              </a:defRPr>
            </a:pPr>
            <a:r>
              <a:t>التقنيات المستخدمة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2743200" cy="457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2400" b="1">
                <a:solidFill>
                  <a:srgbClr val="063B5E"/>
                </a:solidFill>
              </a:defRPr>
            </a:pPr>
            <a:r>
              <a:t>Backend</a:t>
            </a:r>
          </a:p>
          <a:p>
            <a:pPr>
              <a:defRPr sz="1600">
                <a:solidFill>
                  <a:srgbClr val="37474F"/>
                </a:solidFill>
              </a:defRPr>
            </a:pPr>
            <a:r>
              <a:t>• NestJS Framework</a:t>
            </a:r>
          </a:p>
          <a:p>
            <a:pPr>
              <a:defRPr sz="1600">
                <a:solidFill>
                  <a:srgbClr val="37474F"/>
                </a:solidFill>
              </a:defRPr>
            </a:pPr>
            <a:r>
              <a:t>• Node.js Runtime</a:t>
            </a:r>
          </a:p>
          <a:p>
            <a:pPr>
              <a:defRPr sz="1600">
                <a:solidFill>
                  <a:srgbClr val="37474F"/>
                </a:solidFill>
              </a:defRPr>
            </a:pPr>
            <a:r>
              <a:t>• TypeScript</a:t>
            </a:r>
          </a:p>
          <a:p>
            <a:pPr>
              <a:defRPr sz="1600">
                <a:solidFill>
                  <a:srgbClr val="37474F"/>
                </a:solidFill>
              </a:defRPr>
            </a:pPr>
            <a:r>
              <a:t>• Prisma ORM</a:t>
            </a:r>
          </a:p>
          <a:p>
            <a:pPr>
              <a:defRPr sz="1600">
                <a:solidFill>
                  <a:srgbClr val="37474F"/>
                </a:solidFill>
              </a:defRPr>
            </a:pPr>
            <a:r>
              <a:t>• JWT Authentication</a:t>
            </a:r>
          </a:p>
          <a:p>
            <a:pPr>
              <a:defRPr sz="1600">
                <a:solidFill>
                  <a:srgbClr val="37474F"/>
                </a:solidFill>
              </a:defRPr>
            </a:pPr>
            <a:r>
              <a:t>• Passport.js</a:t>
            </a:r>
          </a:p>
          <a:p>
            <a:pPr>
              <a:defRPr sz="1600">
                <a:solidFill>
                  <a:srgbClr val="37474F"/>
                </a:solidFill>
              </a:defRPr>
            </a:pPr>
            <a:r>
              <a:t>• Swagger API Docs</a:t>
            </a:r>
          </a:p>
          <a:p>
            <a:pPr>
              <a:defRPr sz="1600">
                <a:solidFill>
                  <a:srgbClr val="37474F"/>
                </a:solidFill>
              </a:defRPr>
            </a:pPr>
            <a:r>
              <a:t>• Socket.io (Real-time)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0" y="1371600"/>
            <a:ext cx="2743200" cy="457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2400" b="1">
                <a:solidFill>
                  <a:srgbClr val="063B5E"/>
                </a:solidFill>
              </a:defRPr>
            </a:pPr>
            <a:r>
              <a:t>Frontend</a:t>
            </a:r>
          </a:p>
          <a:p>
            <a:pPr>
              <a:defRPr sz="1600">
                <a:solidFill>
                  <a:srgbClr val="37474F"/>
                </a:solidFill>
              </a:defRPr>
            </a:pPr>
            <a:r>
              <a:t>• React 18</a:t>
            </a:r>
          </a:p>
          <a:p>
            <a:pPr>
              <a:defRPr sz="1600">
                <a:solidFill>
                  <a:srgbClr val="37474F"/>
                </a:solidFill>
              </a:defRPr>
            </a:pPr>
            <a:r>
              <a:t>• Vite Build Tool</a:t>
            </a:r>
          </a:p>
          <a:p>
            <a:pPr>
              <a:defRPr sz="1600">
                <a:solidFill>
                  <a:srgbClr val="37474F"/>
                </a:solidFill>
              </a:defRPr>
            </a:pPr>
            <a:r>
              <a:t>• React Router</a:t>
            </a:r>
          </a:p>
          <a:p>
            <a:pPr>
              <a:defRPr sz="1600">
                <a:solidFill>
                  <a:srgbClr val="37474F"/>
                </a:solidFill>
              </a:defRPr>
            </a:pPr>
            <a:r>
              <a:t>• Axios HTTP Client</a:t>
            </a:r>
          </a:p>
          <a:p>
            <a:pPr>
              <a:defRPr sz="1600">
                <a:solidFill>
                  <a:srgbClr val="37474F"/>
                </a:solidFill>
              </a:defRPr>
            </a:pPr>
            <a:r>
              <a:t>• Framer Motion</a:t>
            </a:r>
          </a:p>
          <a:p>
            <a:pPr>
              <a:defRPr sz="1600">
                <a:solidFill>
                  <a:srgbClr val="37474F"/>
                </a:solidFill>
              </a:defRPr>
            </a:pPr>
            <a:r>
              <a:t>• Recharts (Charts)</a:t>
            </a:r>
          </a:p>
          <a:p>
            <a:pPr>
              <a:defRPr sz="1600">
                <a:solidFill>
                  <a:srgbClr val="37474F"/>
                </a:solidFill>
              </a:defRPr>
            </a:pPr>
            <a:r>
              <a:t>• Lucide Icons</a:t>
            </a:r>
          </a:p>
          <a:p>
            <a:pPr>
              <a:defRPr sz="1600">
                <a:solidFill>
                  <a:srgbClr val="37474F"/>
                </a:solidFill>
              </a:defRPr>
            </a:pPr>
            <a:r>
              <a:t>• SweetAlert2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0" y="1371600"/>
            <a:ext cx="2286000" cy="2286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2000" b="1">
                <a:solidFill>
                  <a:srgbClr val="063B5E"/>
                </a:solidFill>
              </a:defRPr>
            </a:pPr>
            <a:r>
              <a:t>Database</a:t>
            </a:r>
          </a:p>
          <a:p>
            <a:pPr>
              <a:defRPr sz="1400">
                <a:solidFill>
                  <a:srgbClr val="37474F"/>
                </a:solidFill>
              </a:defRPr>
            </a:pPr>
            <a:r>
              <a:t>• MySQL 8.0</a:t>
            </a:r>
          </a:p>
          <a:p>
            <a:pPr>
              <a:defRPr sz="1400">
                <a:solidFill>
                  <a:srgbClr val="37474F"/>
                </a:solidFill>
              </a:defRPr>
            </a:pPr>
            <a:r>
              <a:t>• phpMyAdmin</a:t>
            </a:r>
          </a:p>
          <a:p>
            <a:pPr>
              <a:defRPr sz="1400">
                <a:solidFill>
                  <a:srgbClr val="37474F"/>
                </a:solidFill>
              </a:defRPr>
            </a:pPr>
            <a:r>
              <a:t>• Docker Volumes</a:t>
            </a:r>
          </a:p>
          <a:p>
            <a:pPr>
              <a:defRPr sz="1400">
                <a:solidFill>
                  <a:srgbClr val="37474F"/>
                </a:solidFill>
              </a:defRPr>
            </a:pPr>
            <a:r>
              <a:t>• Database Migrations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0" y="4114800"/>
            <a:ext cx="2286000" cy="2286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2000" b="1">
                <a:solidFill>
                  <a:srgbClr val="063B5E"/>
                </a:solidFill>
              </a:defRPr>
            </a:pPr>
            <a:r>
              <a:t>Deployment</a:t>
            </a:r>
          </a:p>
          <a:p>
            <a:pPr>
              <a:defRPr sz="1400">
                <a:solidFill>
                  <a:srgbClr val="37474F"/>
                </a:solidFill>
              </a:defRPr>
            </a:pPr>
            <a:r>
              <a:t>• Docker &amp; Compose</a:t>
            </a:r>
          </a:p>
          <a:p>
            <a:pPr>
              <a:defRPr sz="1400">
                <a:solidFill>
                  <a:srgbClr val="37474F"/>
                </a:solidFill>
              </a:defRPr>
            </a:pPr>
            <a:r>
              <a:t>• Nginx Reverse Proxy</a:t>
            </a:r>
          </a:p>
          <a:p>
            <a:pPr>
              <a:defRPr sz="1400">
                <a:solidFill>
                  <a:srgbClr val="37474F"/>
                </a:solidFill>
              </a:defRPr>
            </a:pPr>
            <a:r>
              <a:t>• Multi-stage Builds</a:t>
            </a:r>
          </a:p>
          <a:p>
            <a:pPr>
              <a:defRPr sz="1400">
                <a:solidFill>
                  <a:srgbClr val="37474F"/>
                </a:solidFill>
              </a:defRPr>
            </a:pPr>
            <a:r>
              <a:t>• Environment Config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1E40AF"/>
                </a:solidFill>
              </a:defRPr>
            </a:pPr>
            <a:r>
              <a:t>قاعدة البيانات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2000">
                <a:solidFill>
                  <a:srgbClr val="37474F"/>
                </a:solidFill>
              </a:defRPr>
            </a:pPr>
            <a:r>
              <a:t>👤 User: المستخدمين وأدوارهم</a:t>
            </a:r>
          </a:p>
          <a:p>
            <a:pPr>
              <a:defRPr sz="2000">
                <a:solidFill>
                  <a:srgbClr val="37474F"/>
                </a:solidFill>
              </a:defRPr>
            </a:pPr>
            <a:r>
              <a:t>📚 Course: الكورسات والمحتوى</a:t>
            </a:r>
          </a:p>
          <a:p>
            <a:pPr>
              <a:defRPr sz="2000">
                <a:solidFill>
                  <a:srgbClr val="37474F"/>
                </a:solidFill>
              </a:defRPr>
            </a:pPr>
            <a:r>
              <a:t>📖 Chapter: الفصول والدروس</a:t>
            </a:r>
          </a:p>
          <a:p>
            <a:pPr>
              <a:defRPr sz="2000">
                <a:solidFill>
                  <a:srgbClr val="37474F"/>
                </a:solidFill>
              </a:defRPr>
            </a:pPr>
            <a:r>
              <a:t>📝 Enrollment: التسجيلات والاشتراكات</a:t>
            </a:r>
          </a:p>
          <a:p>
            <a:pPr>
              <a:defRPr sz="2000">
                <a:solidFill>
                  <a:srgbClr val="37474F"/>
                </a:solidFill>
              </a:defRPr>
            </a:pPr>
            <a:r>
              <a:t>💰 Payment: المدفوعات والمعاملات</a:t>
            </a:r>
          </a:p>
          <a:p>
            <a:pPr>
              <a:defRPr sz="2000">
                <a:solidFill>
                  <a:srgbClr val="37474F"/>
                </a:solidFill>
              </a:defRPr>
            </a:pPr>
            <a:r>
              <a:t>📊 ChapterProgress: تتبع التقدم</a:t>
            </a:r>
          </a:p>
          <a:p>
            <a:pPr>
              <a:defRPr sz="2000">
                <a:solidFill>
                  <a:srgbClr val="37474F"/>
                </a:solidFill>
              </a:defRPr>
            </a:pPr>
            <a:r>
              <a:t>📋 Quiz/Question/Option: نظام الاختبارات</a:t>
            </a:r>
          </a:p>
          <a:p>
            <a:pPr>
              <a:defRPr sz="2000">
                <a:solidFill>
                  <a:srgbClr val="37474F"/>
                </a:solidFill>
              </a:defRPr>
            </a:pPr>
            <a:r>
              <a:t>📄 Assignment: الواجبات والتسليمات</a:t>
            </a:r>
          </a:p>
          <a:p>
            <a:pPr>
              <a:defRPr sz="2000">
                <a:solidFill>
                  <a:srgbClr val="37474F"/>
                </a:solidFill>
              </a:defRPr>
            </a:pPr>
            <a:r>
              <a:t>🏫 Room: إدارة القاعات</a:t>
            </a:r>
          </a:p>
          <a:p>
            <a:pPr>
              <a:defRPr sz="2000">
                <a:solidFill>
                  <a:srgbClr val="37474F"/>
                </a:solidFill>
              </a:defRPr>
            </a:pPr>
            <a:r>
              <a:t>📅 CourseSchedule: الجدول الدراسي</a:t>
            </a:r>
          </a:p>
          <a:p>
            <a:pPr>
              <a:defRPr sz="2000">
                <a:solidFill>
                  <a:srgbClr val="37474F"/>
                </a:solidFill>
              </a:defRPr>
            </a:pPr>
            <a:r>
              <a:t>👥 Attendance: نظام الحضور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1E40AF"/>
                </a:solidFill>
              </a:defRPr>
            </a:pPr>
            <a:r>
              <a:t>الإنجازات الرئيسية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2000">
                <a:solidFill>
                  <a:srgbClr val="37474F"/>
                </a:solidFill>
              </a:defRPr>
            </a:pPr>
            <a:r>
              <a:t>✅ تكامل كامل مع بوابة الدفع Paymob</a:t>
            </a:r>
          </a:p>
          <a:p>
            <a:pPr>
              <a:defRPr sz="2000">
                <a:solidFill>
                  <a:srgbClr val="37474F"/>
                </a:solidFill>
              </a:defRPr>
            </a:pPr>
            <a:r>
              <a:t>✅ نظام مصادقة آمن باستخدام JWT</a:t>
            </a:r>
          </a:p>
          <a:p>
            <a:pPr>
              <a:defRPr sz="2000">
                <a:solidFill>
                  <a:srgbClr val="37474F"/>
                </a:solidFill>
              </a:defRPr>
            </a:pPr>
            <a:r>
              <a:t>✅ مشغل فيديو مخصص مع تتبع التقدم</a:t>
            </a:r>
          </a:p>
          <a:p>
            <a:pPr>
              <a:defRPr sz="2000">
                <a:solidFill>
                  <a:srgbClr val="37474F"/>
                </a:solidFill>
              </a:defRPr>
            </a:pPr>
            <a:r>
              <a:t>✅ نظام اختبارات متقدم مع مراقبة حية</a:t>
            </a:r>
          </a:p>
          <a:p>
            <a:pPr>
              <a:defRPr sz="2000">
                <a:solidFill>
                  <a:srgbClr val="37474F"/>
                </a:solidFill>
              </a:defRPr>
            </a:pPr>
            <a:r>
              <a:t>✅ إدارة شاملة للواجبات والتقييم</a:t>
            </a:r>
          </a:p>
          <a:p>
            <a:pPr>
              <a:defRPr sz="2000">
                <a:solidFill>
                  <a:srgbClr val="37474F"/>
                </a:solidFill>
              </a:defRPr>
            </a:pPr>
            <a:r>
              <a:t>✅ جدولة مرنة مع إدارة القاعات</a:t>
            </a:r>
          </a:p>
          <a:p>
            <a:pPr>
              <a:defRPr sz="2000">
                <a:solidFill>
                  <a:srgbClr val="37474F"/>
                </a:solidFill>
              </a:defRPr>
            </a:pPr>
            <a:r>
              <a:t>✅ نظام إشعارات ومراسلة فورية</a:t>
            </a:r>
          </a:p>
          <a:p>
            <a:pPr>
              <a:defRPr sz="2000">
                <a:solidFill>
                  <a:srgbClr val="37474F"/>
                </a:solidFill>
              </a:defRPr>
            </a:pPr>
            <a:r>
              <a:t>✅ تصميم متجاوب يدعم جميع الأجهزة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1E40AF"/>
                </a:solidFill>
              </a:defRPr>
            </a:pPr>
            <a:r>
              <a:t>النشر والتطوير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2000">
                <a:solidFill>
                  <a:srgbClr val="37474F"/>
                </a:solidFill>
              </a:defRPr>
            </a:pPr>
            <a:r>
              <a:t>🐳 Docker Containerization</a:t>
            </a:r>
          </a:p>
          <a:p>
            <a:pPr>
              <a:defRPr sz="2000">
                <a:solidFill>
                  <a:srgbClr val="37474F"/>
                </a:solidFill>
              </a:defRPr>
            </a:pPr>
            <a:r>
              <a:t>📦 Multi-stage Docker Builds</a:t>
            </a:r>
          </a:p>
          <a:p>
            <a:pPr>
              <a:defRPr sz="2000">
                <a:solidFill>
                  <a:srgbClr val="37474F"/>
                </a:solidFill>
              </a:defRPr>
            </a:pPr>
            <a:r>
              <a:t>🔄 Hot Reload Development</a:t>
            </a:r>
          </a:p>
          <a:p>
            <a:pPr>
              <a:defRPr sz="2000">
                <a:solidFill>
                  <a:srgbClr val="37474F"/>
                </a:solidFill>
              </a:defRPr>
            </a:pPr>
            <a:r>
              <a:t>🌐 Nginx Reverse Proxy</a:t>
            </a:r>
          </a:p>
          <a:p>
            <a:pPr>
              <a:defRPr sz="2000">
                <a:solidFill>
                  <a:srgbClr val="37474F"/>
                </a:solidFill>
              </a:defRPr>
            </a:pPr>
            <a:r>
              <a:t>💾 Persistent Data Volumes</a:t>
            </a:r>
          </a:p>
          <a:p>
            <a:pPr>
              <a:defRPr sz="2000">
                <a:solidFill>
                  <a:srgbClr val="37474F"/>
                </a:solidFill>
              </a:defRPr>
            </a:pPr>
            <a:r>
              <a:t>🔧 Environment Configuration</a:t>
            </a:r>
          </a:p>
          <a:p>
            <a:pPr>
              <a:defRPr sz="2000">
                <a:solidFill>
                  <a:srgbClr val="37474F"/>
                </a:solidFill>
              </a:defRPr>
            </a:pPr>
            <a:r>
              <a:t>📊 phpMyAdmin Database Admin</a:t>
            </a:r>
          </a:p>
          <a:p>
            <a:pPr>
              <a:defRPr sz="2000">
                <a:solidFill>
                  <a:srgbClr val="37474F"/>
                </a:solidFill>
              </a:defRPr>
            </a:pPr>
            <a:r>
              <a:t>🚀 One-command Deployment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600" b="1">
                <a:solidFill>
                  <a:srgbClr val="1E40AF"/>
                </a:solidFill>
              </a:defRPr>
            </a:pPr>
            <a:r>
              <a:t>الخلاصة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1828800" y="1828800"/>
            <a:ext cx="548640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ctr">
              <a:defRPr sz="2400">
                <a:solidFill>
                  <a:srgbClr val="37474F"/>
                </a:solidFill>
              </a:defRPr>
            </a:pPr>
            <a:r>
              <a:t>منصة تعليمية متكاملة ومتقدمة</a:t>
            </a:r>
          </a:p>
          <a:p>
            <a:pPr algn="ctr">
              <a:defRPr sz="2400">
                <a:solidFill>
                  <a:srgbClr val="37474F"/>
                </a:solidFill>
              </a:defRPr>
            </a:pPr>
            <a:r>
              <a:t>حل شامل لإدارة المراكز التعليمية</a:t>
            </a:r>
          </a:p>
          <a:p>
            <a:pPr algn="ctr">
              <a:defRPr sz="2400">
                <a:solidFill>
                  <a:srgbClr val="37474F"/>
                </a:solidFill>
              </a:defRPr>
            </a:pPr>
            <a:r>
              <a:t>تقنيات حديثة ومعايير أمان عالية</a:t>
            </a:r>
          </a:p>
          <a:p>
            <a:pPr algn="ctr">
              <a:defRPr sz="2400">
                <a:solidFill>
                  <a:srgbClr val="37474F"/>
                </a:solidFill>
              </a:defRPr>
            </a:pPr>
            <a:r>
              <a:t>تجربة مستخدم ممتازة وسهلة الاستخدام</a:t>
            </a:r>
          </a:p>
          <a:p>
            <a:pPr algn="ctr">
              <a:defRPr sz="2400">
                <a:solidFill>
                  <a:srgbClr val="37474F"/>
                </a:solidFill>
              </a:defRPr>
            </a:pPr>
            <a:r>
              <a:t>جاهز للنشر والاستخدام التجاري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